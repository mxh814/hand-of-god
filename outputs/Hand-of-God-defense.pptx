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5676ca5ba4758" /><Relationship Type="http://schemas.openxmlformats.org/officeDocument/2006/relationships/extended-properties" Target="/docProps/app.xml" Id="Re75c2c195b69446d" /><Relationship Type="http://schemas.openxmlformats.org/officeDocument/2006/relationships/officeDocument" Target="/ppt/presentation.xml" Id="R137e2d63a19d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580ff3383416a"/>
  </p:sldMasterIdLst>
  <p:notesMasterIdLst>
    <p:notesMasterId xmlns:r="http://schemas.openxmlformats.org/officeDocument/2006/relationships" r:id="R2d600b29b9a04208"/>
  </p:notesMasterIdLst>
  <p:sldIdLst>
    <p:sldId xmlns:r="http://schemas.openxmlformats.org/officeDocument/2006/relationships" id="256" r:id="Re87674019cb243e3"/>
    <p:sldId xmlns:r="http://schemas.openxmlformats.org/officeDocument/2006/relationships" id="257" r:id="Rb60d4c9ae6864ed9"/>
    <p:sldId xmlns:r="http://schemas.openxmlformats.org/officeDocument/2006/relationships" id="258" r:id="Ra29d3503e6da430a"/>
    <p:sldId xmlns:r="http://schemas.openxmlformats.org/officeDocument/2006/relationships" id="259" r:id="R7facd3a1ef254589"/>
    <p:sldId xmlns:r="http://schemas.openxmlformats.org/officeDocument/2006/relationships" id="260" r:id="Rb8bcf2c2a3ff4048"/>
    <p:sldId xmlns:r="http://schemas.openxmlformats.org/officeDocument/2006/relationships" id="261" r:id="R3acbba6731de4df1"/>
    <p:sldId xmlns:r="http://schemas.openxmlformats.org/officeDocument/2006/relationships" id="262" r:id="Rfac431f4faf3472c"/>
    <p:sldId xmlns:r="http://schemas.openxmlformats.org/officeDocument/2006/relationships" id="263" r:id="R0fb2155a783e4768"/>
    <p:sldId xmlns:r="http://schemas.openxmlformats.org/officeDocument/2006/relationships" id="264" r:id="R9e9fbda2ac2e4b05"/>
    <p:sldId xmlns:r="http://schemas.openxmlformats.org/officeDocument/2006/relationships" id="265" r:id="R35ed5a4a0e7c4aba"/>
    <p:sldId xmlns:r="http://schemas.openxmlformats.org/officeDocument/2006/relationships" id="266" r:id="Rb7b32b3f79034607"/>
    <p:sldId xmlns:r="http://schemas.openxmlformats.org/officeDocument/2006/relationships" id="267" r:id="R9244b63d792645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917a00ce1d46d9" /><Relationship Type="http://schemas.openxmlformats.org/officeDocument/2006/relationships/slideMaster" Target="/ppt/slideMasters/slideMaster1.xml" Id="Rcbf580ff3383416a" /><Relationship Type="http://schemas.openxmlformats.org/officeDocument/2006/relationships/notesMaster" Target="/ppt/notesMasters/notesMaster1.xml" Id="R2d600b29b9a04208" /><Relationship Type="http://schemas.openxmlformats.org/officeDocument/2006/relationships/presProps" Target="/ppt/presProps.xml" Id="Rda14d2f2a8cd4439" /><Relationship Type="http://schemas.openxmlformats.org/officeDocument/2006/relationships/tableStyles" Target="/ppt/tableStyles.xml" Id="R1da38c99fc6843b7" /><Relationship Type="http://schemas.openxmlformats.org/officeDocument/2006/relationships/slide" Target="/ppt/slides/slide1.xml" Id="Re87674019cb243e3" /><Relationship Type="http://schemas.openxmlformats.org/officeDocument/2006/relationships/slide" Target="/ppt/slides/slide2.xml" Id="Rb60d4c9ae6864ed9" /><Relationship Type="http://schemas.openxmlformats.org/officeDocument/2006/relationships/slide" Target="/ppt/slides/slide3.xml" Id="Ra29d3503e6da430a" /><Relationship Type="http://schemas.openxmlformats.org/officeDocument/2006/relationships/slide" Target="/ppt/slides/slide4.xml" Id="R7facd3a1ef254589" /><Relationship Type="http://schemas.openxmlformats.org/officeDocument/2006/relationships/slide" Target="/ppt/slides/slide5.xml" Id="Rb8bcf2c2a3ff4048" /><Relationship Type="http://schemas.openxmlformats.org/officeDocument/2006/relationships/slide" Target="/ppt/slides/slide6.xml" Id="R3acbba6731de4df1" /><Relationship Type="http://schemas.openxmlformats.org/officeDocument/2006/relationships/slide" Target="/ppt/slides/slide7.xml" Id="Rfac431f4faf3472c" /><Relationship Type="http://schemas.openxmlformats.org/officeDocument/2006/relationships/slide" Target="/ppt/slides/slide8.xml" Id="R0fb2155a783e4768" /><Relationship Type="http://schemas.openxmlformats.org/officeDocument/2006/relationships/slide" Target="/ppt/slides/slide9.xml" Id="R9e9fbda2ac2e4b05" /><Relationship Type="http://schemas.openxmlformats.org/officeDocument/2006/relationships/slide" Target="/ppt/slides/slide10.xml" Id="R35ed5a4a0e7c4aba" /><Relationship Type="http://schemas.openxmlformats.org/officeDocument/2006/relationships/slide" Target="/ppt/slides/slide11.xml" Id="Rb7b32b3f79034607" /><Relationship Type="http://schemas.openxmlformats.org/officeDocument/2006/relationships/slide" Target="/ppt/slides/slide12.xml" Id="R9244b63d7926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af7953b9b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b038e5a6342c7" /><Relationship Type="http://schemas.openxmlformats.org/officeDocument/2006/relationships/notesMaster" Target="/ppt/notesMasters/notesMaster1.xml" Id="R08b4e562703940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281fc190142e4" /><Relationship Type="http://schemas.openxmlformats.org/officeDocument/2006/relationships/notesMaster" Target="/ppt/notesMasters/notesMaster1.xml" Id="R02a24fed26af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6ac26096e84498" /><Relationship Type="http://schemas.openxmlformats.org/officeDocument/2006/relationships/notesMaster" Target="/ppt/notesMasters/notesMaster1.xml" Id="Rdbf57c32e8844a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0dc7b0235744fb" /><Relationship Type="http://schemas.openxmlformats.org/officeDocument/2006/relationships/notesMaster" Target="/ppt/notesMasters/notesMaster1.xml" Id="R417f01c361b94d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3f4119cbb4652" /><Relationship Type="http://schemas.openxmlformats.org/officeDocument/2006/relationships/notesMaster" Target="/ppt/notesMasters/notesMaster1.xml" Id="Re2e14c7276534e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6f010f784d4e49" /><Relationship Type="http://schemas.openxmlformats.org/officeDocument/2006/relationships/notesMaster" Target="/ppt/notesMasters/notesMaster1.xml" Id="R23c52fe8831548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5abff23076422e" /><Relationship Type="http://schemas.openxmlformats.org/officeDocument/2006/relationships/notesMaster" Target="/ppt/notesMasters/notesMaster1.xml" Id="R70b1144c3461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688bc4e664221" /><Relationship Type="http://schemas.openxmlformats.org/officeDocument/2006/relationships/notesMaster" Target="/ppt/notesMasters/notesMaster1.xml" Id="Rd811ce09588345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d1cbb5bc30484d" /><Relationship Type="http://schemas.openxmlformats.org/officeDocument/2006/relationships/notesMaster" Target="/ppt/notesMasters/notesMaster1.xml" Id="R803e49711c6a45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4f71ed7eab423f" /><Relationship Type="http://schemas.openxmlformats.org/officeDocument/2006/relationships/notesMaster" Target="/ppt/notesMasters/notesMaster1.xml" Id="Rfb82abb419b047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fd7cb198eb4e2a" /><Relationship Type="http://schemas.openxmlformats.org/officeDocument/2006/relationships/notesMaster" Target="/ppt/notesMasters/notesMaster1.xml" Id="Re388889e7e484a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fef206d8fc4928" /><Relationship Type="http://schemas.openxmlformats.org/officeDocument/2006/relationships/notesMaster" Target="/ppt/notesMasters/notesMaster1.xml" Id="Re67b06acdc6242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0332b57fa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c7b2882634df1" /><Relationship Type="http://schemas.openxmlformats.org/officeDocument/2006/relationships/slideLayout" Target="/ppt/slideLayouts/slideLayout1.xml" Id="Rd7453e9bd081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53e9bd081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b5583cef40ec" /><Relationship Type="http://schemas.openxmlformats.org/officeDocument/2006/relationships/notesSlide" Target="/ppt/notesSlides/notesSlide1.xml" Id="Rcda2d1cb7f94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9960a4c1847ec" /><Relationship Type="http://schemas.openxmlformats.org/officeDocument/2006/relationships/notesSlide" Target="/ppt/notesSlides/notesSlide2.xml" Id="Rbcbd89fc7665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2c6c42f544f66" /><Relationship Type="http://schemas.openxmlformats.org/officeDocument/2006/relationships/notesSlide" Target="/ppt/notesSlides/notesSlide3.xml" Id="Rfe6efd168a84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b2454d0ec487b" /><Relationship Type="http://schemas.openxmlformats.org/officeDocument/2006/relationships/notesSlide" Target="/ppt/notesSlides/notesSlide4.xml" Id="R9bd28082bb6a43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3dfc879ad496e" /><Relationship Type="http://schemas.openxmlformats.org/officeDocument/2006/relationships/notesSlide" Target="/ppt/notesSlides/notesSlide5.xml" Id="Rba2fa06042e047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d49b688fb4818" /><Relationship Type="http://schemas.openxmlformats.org/officeDocument/2006/relationships/notesSlide" Target="/ppt/notesSlides/notesSlide6.xml" Id="R4fc315c59f27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8bc14b43a4b72" /><Relationship Type="http://schemas.openxmlformats.org/officeDocument/2006/relationships/notesSlide" Target="/ppt/notesSlides/notesSlide7.xml" Id="Rda32be5c4d3d42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df024a70d4bb0" /><Relationship Type="http://schemas.openxmlformats.org/officeDocument/2006/relationships/notesSlide" Target="/ppt/notesSlides/notesSlide8.xml" Id="Rc82f90cf8991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a872173d4413" /><Relationship Type="http://schemas.openxmlformats.org/officeDocument/2006/relationships/notesSlide" Target="/ppt/notesSlides/notesSlide9.xml" Id="Rcc649d136a2d41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b10148fef4ad1" /><Relationship Type="http://schemas.openxmlformats.org/officeDocument/2006/relationships/notesSlide" Target="/ppt/notesSlides/notesSlide10.xml" Id="Re3aa393e8a0e42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c17a3caf4817" /><Relationship Type="http://schemas.openxmlformats.org/officeDocument/2006/relationships/notesSlide" Target="/ppt/notesSlides/notesSlide11.xml" Id="R8c8e649dd54d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150b2bd564272" /><Relationship Type="http://schemas.openxmlformats.org/officeDocument/2006/relationships/notesSlide" Target="/ppt/notesSlides/notesSlide12.xml" Id="R316db4e6737e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40689-F8D2-4C81-A339-425CFD0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838C4-F318-474E-A964-0B20C41C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97321-7001-4329-89C9-AA7C11E8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B1275-DEFF-446A-B6FC-002A025E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A2A6E-49CE-4385-A779-C9A39673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78980-5A24-413C-BEB6-71C8314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61C09-9B56-4C92-BC8E-3EDAEC1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DC7AF-99B0-4BEF-AFBB-7A99C06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BBEFC-4E3D-434F-B9BA-BFCCD7D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66677-6B8D-44D2-995F-60A8E87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B98ED-645D-4948-9781-2C92ED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F2C7A-F2E0-46CF-8BFE-68CD399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5572D-59B4-41CE-94C7-7A1AACDE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9D86D-9B32-445B-8342-34FBD66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37979-EAEE-4AFB-B514-7755999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22685-548C-4104-9434-6109DA0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80A4-12AF-4B40-B7B3-B2B644F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0472D-CB73-4E3C-9928-746C6E8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15B49-1C26-4258-9443-D902B599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C1926-FCD1-4736-927F-E68DD50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7DC13-EB0B-44FD-B544-A4B9958B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0B0C5-2C94-495C-A90A-10ECA36C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04D73-1447-434E-82E8-13769EDA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162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68FD4-033E-49C5-BDA2-B2A7E7A5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429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D14E8-ADA5-4E46-BF97-62CDB05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695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12968-F4D3-40E7-9A75-4D5DEEB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715500" cy="-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D49D9-03E7-49F2-A139-ECB57854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14400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35D9CE-ABA2-4E93-B138-1A4A811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90750"/>
            <a:ext cx="1866900" cy="1866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42F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655D8-7A83-412E-BED0-4FD0F2C1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978" y="2610803"/>
            <a:ext cx="1026795" cy="1026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82103-B983-47F7-BB2E-CA7B5BD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670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19050">
            <a:solidFill>
              <a:srgbClr val="E8A33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2AB71-1D2C-41AE-A368-42167BFE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2918460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E5275-D5EF-4E77-BE2F-04D18F13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131570" cy="12153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86F41-FF11-4643-96F1-ED9B3D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" y="2609850"/>
            <a:ext cx="-20955" cy="-335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8B827-E315-4138-8687-D31E932A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" y="2236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3AF87B-0DDF-4E06-ADB2-4F0C8CB3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" y="2609850"/>
            <a:ext cx="-188595" cy="-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A27491-B841-4644-8142-FC2F972B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58C92B-D951-4461-A76C-772409E4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" y="2609850"/>
            <a:ext cx="146685" cy="-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ABBD96-14C4-4C29-B608-9C4B876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" y="131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1C4B21-E3C5-4240-82B4-56EE779D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" y="2609850"/>
            <a:ext cx="440055" cy="-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C2307-DE07-4C59-91B5-E2EA650A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" y="15659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7C326-7CE9-4947-8330-0D9DC83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" y="2609850"/>
            <a:ext cx="-398145" cy="-8801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F9C71-E3C1-4A4A-85FA-80B1D33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6916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B8E5D9-E72F-4324-8C37-B145704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9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HAND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9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OF GOD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0A0F34-2547-4788-B426-D94F7624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实时手势识别驱动的物理解谜游戏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680DEA-3DFA-47CD-B649-E0E1FF0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把双手动作转化为可学习、可反馈、可连续操控的 Unity 物理世界。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C9EC93-7A17-477D-AF31-18C98903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809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B151A"/>
          </a:solidFill>
          <a:ln xmlns:a="http://schemas.openxmlformats.org/drawingml/2006/main" w="11430">
            <a:solidFill>
              <a:srgbClr val="42F8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47699B-CA9A-4AD7-9D18-6DF1F2C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Python + MediaPipe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840807-9674-4BE7-A2C9-A309877E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1809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B151A"/>
          </a:solidFill>
          <a:ln xmlns:a="http://schemas.openxmlformats.org/drawingml/2006/main" w="11430">
            <a:solidFill>
              <a:srgbClr val="FFD4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842427-205C-4AE0-801C-03B5A062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52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Unity 6.4 Physics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F93B13-BA73-4560-9402-C5E3A37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1562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B151A"/>
          </a:solidFill>
          <a:ln xmlns:a="http://schemas.openxmlformats.org/drawingml/2006/main" w="11430">
            <a:solidFill>
              <a:srgbClr val="79FF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491A61-2F72-40FE-BDC6-C265A59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529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Gesture Puzzle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EF4475-1511-4FAE-8FB3-2F956F6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53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答辩演示稿</a:t>
            </a:r>
          </a:p>
        </p:txBody>
      </p:sp>
    </p:spTree>
    <p:extLst>
      <p:ext uri="{BB962C8B-B14F-4D97-AF65-F5344CB8AC3E}">
        <p14:creationId xmlns:p14="http://schemas.microsoft.com/office/powerpoint/2010/main" val="1450978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0A9C5A-9C5C-4178-B476-D15FB48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55035-F4F3-4721-9977-C8DF9F9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9C44D-E3E9-4193-B10C-A8F7727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5ED19-A05C-4A7D-BB0C-D53AF44E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81A3-553A-4D07-B44B-D111097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204AB-AD5F-4461-A98F-10E3D5A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4B8FA-30EC-4CA8-B929-AA72042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DDA32-5282-4A02-84F0-5D867EB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4FC09-7CF6-4F93-A6DF-24EE426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662A-003E-4E3B-AC2A-F7A7413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B6E36-4DEC-4A7F-82DC-8A89465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E0D59-6EE3-435A-9C29-DC9650E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88CCD-9B85-4542-9426-5EC8793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FB2E4-5B17-4F17-A931-9BBA4AF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3D010-FAD5-497E-A849-26BC2722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73ECB-438C-4419-A22C-6F6E4F6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6F92E-4B34-42B0-A181-3B76DE6A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45BBF-0A81-420D-BD2A-BB7838DB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BBBD9-C9F1-4CE4-89AE-BB20139B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BFA3F-5FD0-40C8-A48D-966874D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01E6C-DBD3-44D4-BC12-B50C1633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D6A27-7C36-488A-AC37-809FDBD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03CE2-BF6B-4A02-BD62-76628A4B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E3BF1-A1FD-4E35-BE58-C8BB1D0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68AE9-9B07-4982-B136-4C7C810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项目背景：从“点击”到“用手影响物理世界”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C11C8-09A9-4861-BE64-0DE7B53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BF593-849B-4B7A-94CE-7C2EC92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C853D-E850-49F1-8351-7DFC054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8918E8DD-4F8A-49ED-9927-131CCF32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6B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D5A34-8251-4054-AD34-C5727640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7625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FF6B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26D0A2-F382-49CD-BD77-7AF7BB1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传统输入的局限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E44F9-8959-43BB-8457-6258297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8003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鼠标/键盘把身体动作压缩成点击和按键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物理解谜里，玩家实际想做的是抓、推、转、合拢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手势天然适合表达空间关系和力的方向</a:t>
            </a:r>
          </a:p>
        </p:txBody>
      </p:sp>
      <p:sp>
        <p:nvSpPr>
          <p:cNvPr id="33" name="card">
            <a:extLst xmlns:a="http://schemas.openxmlformats.org/drawingml/2006/main">
              <a:ext uri="{FF2B5EF4-FFF2-40B4-BE49-F238E27FC236}">
                <a16:creationId xmlns:a16="http://schemas.microsoft.com/office/drawing/2014/main" id="{D20A2F48-6478-42D1-A6F3-DBFFD957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6CE44-D85F-472B-96A5-56BA7B1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47625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2B28FE-0471-4266-9B47-48FF1DC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907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我们的目标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C67E7-BC17-44D0-9E70-C704D1C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9800"/>
            <a:ext cx="28003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让玩家直接用双手操作虚拟机关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让每个手势都有明确物理隐喻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所有反馈在同一画面内闭环：摄像头、骨架、物理对象、成功提示</a:t>
            </a:r>
          </a:p>
        </p:txBody>
      </p:sp>
      <p:sp>
        <p:nvSpPr>
          <p:cNvPr id="37" name="card">
            <a:extLst xmlns:a="http://schemas.openxmlformats.org/drawingml/2006/main">
              <a:ext uri="{FF2B5EF4-FFF2-40B4-BE49-F238E27FC236}">
                <a16:creationId xmlns:a16="http://schemas.microsoft.com/office/drawing/2014/main" id="{A6FDCD04-6072-4A76-B62C-A790F4F8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D4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C192E0-439E-48B6-BE35-A83DC749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47625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0">
            <a:solidFill>
              <a:srgbClr val="FFD4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4302B-BC09-4988-A48D-DB70EE5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设计原则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D1CEF7-19B2-415A-883E-521B4E4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8003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可学习：先教学再闯关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可控：稳定、低延迟、少误触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可展示：自动启动桥接、退出释放摄像头、关卡可随时重开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ECFBE2-C316-48B9-A929-9483CA77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286375"/>
            <a:ext cx="642938" cy="6905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8B37FE-C3F0-4CCB-89C4-E6402754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44" y="5524500"/>
            <a:ext cx="-11906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E2CBE3-3BA6-482A-8BD5-9E7F4011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76288B-F533-4EFB-AF80-46BCA756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44" y="5524500"/>
            <a:ext cx="-107156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DB8BAD-6E55-412F-B7EF-5A0B86E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E3D14A-73E8-4963-A3BB-4034691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44" y="5524500"/>
            <a:ext cx="83344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C44140-2459-4DFD-AE4A-703FA58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A19C5C-C007-4CE2-B4D4-F5F6DD4B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44" y="5524500"/>
            <a:ext cx="250031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4A7AC4-93D6-4F7B-A323-F8C6253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0C13C6-0216-46B9-94EF-F12ABF34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44" y="5524500"/>
            <a:ext cx="-226219" cy="-500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2D90A3-057A-4452-B8BE-FE4C38FF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9863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23E7E4-FE50-4E39-9B24-3805409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19050">
            <a:solidFill>
              <a:srgbClr val="E8A33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FF167D-20F5-42AB-8BAC-91111D7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583" y="5382578"/>
            <a:ext cx="88011" cy="88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545D02-A833-419A-B964-A416DED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292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45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C6E1D3-F6B9-4233-AD23-802E97AA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534797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A4A8A-5D9B-46C6-AB70-5A65082B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9479-590E-41BF-BA40-B7BFCCC2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715B6-1B2B-4E14-B90D-1BDDD15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7E9E1-44E7-43E9-9E16-84340DDF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F186D-A201-45B9-92D0-3C50567F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2464E-F3DC-4E12-900E-2307505C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79306-9706-4B42-A9C8-77048BC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87F9D-D099-44CB-8627-4DAE3D6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0AB93-A928-41E9-923E-2062CA80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5A9CF-86DF-44C5-8444-8B2C049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48036-9F6F-4EF7-BCDD-A763F14C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3123F-DD34-45C5-A415-DAC46A45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5D32C-BA14-4593-A35B-B8736C5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72C28-E3DB-4220-BD9F-9F27B6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710EE-6225-46F1-BAD3-9FB37AD5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10158-6CDA-4A6B-89E2-D699371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BCC6C-F2E7-4151-9704-CB46D89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53DF3-5493-427D-80FB-5325EE9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79B4B-02E2-4BFD-9BC5-0111156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DB1B8-C823-4C30-B839-0096248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20970-347A-4A90-BA76-8292435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43319-314E-4599-80B2-8A6B9B5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7A3C5-B96A-473B-8C24-3C0CF57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3173F-28BB-437C-9524-1361E574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86274-FC13-47E7-AE07-568B50AC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体验流程：校准 → 教学 → 四个机关关卡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D6931-075E-4ACB-8763-0B1B8D74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E1BE8-74C1-44BB-8B5C-91075471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9F7D5-8560-4D44-9D8F-8A06FDD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8F44E-05BA-40A5-A0B2-2A5E066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B0EF7-0231-4A28-9BA2-D7DF7F63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2F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F60DD-7744-4F9C-95E2-BE7ECB1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4A0A1-0693-4F89-8738-AC91BCD2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校准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60423-F70E-42B7-8587-C898119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张掌 + 捏合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生成玩家阈值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956CF-8447-4476-BB4D-B1AB2E7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522969-EC92-40C5-98FE-F9B1DFC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9FF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53AE4-EB51-47A7-AB0A-5550E88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16EE0-2BB7-4F26-9A58-B0B00A2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30CC7-3658-42C8-93E9-A92E09EC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逐项教学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所有核心手势</a:t>
            </a:r>
          </a:p>
        </p:txBody>
      </p:sp>
      <p:cxnSp>
        <p:nvCxnSpPr>
          <p:cNvPr id="107" name=""/>
          <p:cNvCxnSpPr>
            <a:stCxn xmlns:a="http://schemas.openxmlformats.org/drawingml/2006/main" id="29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22885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B11D0-4EDE-4294-8AAE-F0074BA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4E3C2B-60EB-41A5-939E-EDE452F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AED93E-15C6-4D0D-AB26-93A2958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77A1-DA27-46E8-BE17-B8EF878A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8DC7D5-ABA7-474E-B09C-12193F6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清障 / 合桥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旋转空中桥</a:t>
            </a:r>
          </a:p>
        </p:txBody>
      </p:sp>
      <p:cxnSp>
        <p:nvCxnSpPr>
          <p:cNvPr id="113" name=""/>
          <p:cNvCxnSpPr>
            <a:stCxn xmlns:a="http://schemas.openxmlformats.org/drawingml/2006/main" id="34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11480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529A7E-3C75-47FA-A08B-D024158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A58652-A3AD-45E6-B1E7-5C5A06F9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2F8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1B01-A8CE-4656-BD1E-F29AA76B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72F8CF-6DD2-46BA-9B84-47B4243B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EB4556-04DD-400D-9CC2-89A88E36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钥匙传送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气流加速度</a:t>
            </a:r>
          </a:p>
        </p:txBody>
      </p:sp>
      <p:cxnSp>
        <p:nvCxnSpPr>
          <p:cNvPr id="119" name=""/>
          <p:cNvCxnSpPr>
            <a:stCxn xmlns:a="http://schemas.openxmlformats.org/drawingml/2006/main" id="40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00075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88A77B-9712-4D68-9153-D31F1B79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50A086-BF0D-4D3B-91C5-4AF65785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48AA3F-AB2F-4A06-8979-399D67A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B164D6-CE7A-4C6C-A1A6-4C51397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D0EEBF-7A6C-4109-B475-9A8D0499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绘制创造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深交叉消除</a:t>
            </a:r>
          </a:p>
        </p:txBody>
      </p:sp>
      <p:cxnSp>
        <p:nvCxnSpPr>
          <p:cNvPr id="125" name=""/>
          <p:cNvCxnSpPr>
            <a:stCxn xmlns:a="http://schemas.openxmlformats.org/drawingml/2006/main" id="46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788670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2655FF-11DC-47AD-9223-12EBE0A8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0250"/>
            <a:ext cx="1504950" cy="16192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676801-47D0-4C55-BA4E-10DD20F9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00200"/>
            <a:ext cx="59055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2F8F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C7EBD9-97E7-4031-A9C7-527C532F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C6E51C-5A45-4786-B42A-71C3BBA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860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072D6A-725F-4E49-BC7A-3EA3402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241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镜面光路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磁力切换</a:t>
            </a:r>
          </a:p>
        </p:txBody>
      </p:sp>
      <p:cxnSp>
        <p:nvCxnSpPr>
          <p:cNvPr id="131" name=""/>
          <p:cNvCxnSpPr>
            <a:stCxn xmlns:a="http://schemas.openxmlformats.org/drawingml/2006/main" id="52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772650" y="2809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64" name="card">
            <a:extLst xmlns:a="http://schemas.openxmlformats.org/drawingml/2006/main">
              <a:ext uri="{FF2B5EF4-FFF2-40B4-BE49-F238E27FC236}">
                <a16:creationId xmlns:a16="http://schemas.microsoft.com/office/drawing/2014/main" id="{A6DAA679-89DD-45DD-9E7E-B522E13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90678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4B03B3-FA54-4948-B1CC-41B1A436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47625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4AC302-CAFB-4B74-9E05-74D76956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00600"/>
            <a:ext cx="864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关卡节奏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A9153E-1C7B-4EB4-963B-525F999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862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每个正式关卡都采用“当前目标 + 可操作机关 + 成功反馈 + 失败重置”的闭环，避免玩家猜下一步。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6ABD16-1CED-416A-BCC4-45EFB77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209208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60074-E196-4867-A95C-CCE73412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A6F47-7C15-490E-A2EA-EDBE7E3F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47622-EDF3-4DDA-B7B4-01210E0D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7FB7B-F83F-4A2A-8CAB-0A055FE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DCED8-A2A4-4CE7-B82B-BBA45B0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5FFD2-E420-409D-8E63-913F7115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C101C-4B4A-4FD1-B86B-2E0257A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0DBD9-64B2-49B7-839B-9B98DBF1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446AF-F3C1-463C-B84F-B4DDA0C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B929F-AA24-4984-8322-0B38A66A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07B07-E8EB-4952-A061-EA9515E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9A08E-D63E-46D5-9090-D447870E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E700C-1814-43E5-977A-CA98F410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7C6B6-FDCD-445A-AAFB-FBA0BF69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BA444-FCB4-4FD9-98CD-9A6CBF0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0740F-3D7D-4C4F-8085-3577FCE1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A72E9-145D-418C-85BB-77F1FE79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687B3-9EFC-4937-B8CC-FE98D9B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69068-F122-4C06-9364-D53E295E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5A8A6-8D3E-4F6A-A62A-4F291B35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67290-2749-4C14-80FF-8EBEF60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2ED70-E3FB-4644-97EE-11BE1F8A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45C63-D235-4E12-8061-C13B34BA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857E5-E09E-448B-901D-02EB3ACD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4F65E-6A4C-4117-94EF-E50B44B1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项目架构 / 模块：双进程实时桥接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EC1E4-10F9-42A8-9B6F-F05D6DD8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CF595-FD36-4419-A4E9-829EF39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0FF53-7D61-410A-B6B4-5EDECF7B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8B47D1E4-9725-4706-B639-3542DE3D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000250" cy="2266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D4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B4CA1-688F-4ED8-97AA-25C47652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" cy="2266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0">
            <a:solidFill>
              <a:srgbClr val="FFD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4BA29-3A41-42B4-97EE-03EA633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Camera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EF86D-BDD2-4482-A7FA-923B140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562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摄像头采集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画面镜像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帧时间戳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8CBDA0-FDF3-455C-B0AB-E4E22845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2857500" cy="2952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B2CFF3-BD74-4287-8820-72C9C58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Python Gesture Bridge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05861-83B7-4F02-917A-70312A4E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OpenCV 捕获摄像头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MediaPipe Hands 21 点识别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手势特征计算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同源稳定坐标输出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5007 单实例锁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9A6D96-B543-4BEE-A2CE-07433196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76375"/>
            <a:ext cx="3429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FF93EC-2AC7-464F-9973-4A5C20C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954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Unity Game Runtime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41D258-BC61-4E91-A4FD-2F6A4690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2781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GestureUdpReceiver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CameraFrameReceiver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GestureGameController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BallController / AirBeltTrigger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HUD、骨架、物理机关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AA2B4-ED12-4951-82C2-4FF6220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09750"/>
            <a:ext cx="990600" cy="226695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F6C56F-523A-475E-A7E8-65FC7A7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38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Game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100AB6-EE10-406F-AE87-52983558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Physics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Puzzle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56269B-FA24-4854-9E34-E76D710C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400050" cy="4572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51A"/>
          </a:solidFill>
          <a:ln xmlns:a="http://schemas.openxmlformats.org/drawingml/2006/main" w="9525">
            <a:solidFill>
              <a:srgbClr val="42F8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5AFEB7-F67B-4810-B252-EA48C3B8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14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UDP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5005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431BFA-EC46-4818-9FB3-A2838A2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400050" cy="4572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151A"/>
          </a:solidFill>
          <a:ln xmlns:a="http://schemas.openxmlformats.org/drawingml/2006/main" w="9525">
            <a:solidFill>
              <a:srgbClr val="FFD4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83C23E-EB18-4679-8353-A23ED7A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86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TCP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5006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6390EC-8C27-4D7C-A3E1-8F8D7903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181475-DB8D-40C0-ABE5-6F2F7710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4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BB4006-E75C-47D3-BC2B-04793ED8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2E00D8-0756-42F9-8892-BDF27D9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D4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C2DC98-D8EB-4AFA-880C-E65CF989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FF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2903EA-2FE1-472C-8E51-758387E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09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手势 JSON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EE499F-E8F8-493C-B759-60B1B460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JPEG 摄像头帧</a:t>
            </a:r>
          </a:p>
        </p:txBody>
      </p:sp>
      <p:sp>
        <p:nvSpPr>
          <p:cNvPr id="53" name="card">
            <a:extLst xmlns:a="http://schemas.openxmlformats.org/drawingml/2006/main">
              <a:ext uri="{FF2B5EF4-FFF2-40B4-BE49-F238E27FC236}">
                <a16:creationId xmlns:a16="http://schemas.microsoft.com/office/drawing/2014/main" id="{8BE06F02-F9B6-4282-BF11-8DB4580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F14ADD-8717-473F-9AF0-EA0BC1C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476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E15179-0402-48D4-87DF-50986E94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339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为什么拆成两个进程？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CDF47B-79DC-4FF6-A33A-B03A3E0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53050"/>
            <a:ext cx="889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Python 侧专注视觉识别和摄像头稳定；Unity 侧专注物理、UI 和关卡状态。UDP/TCP 分流让手势低延迟、摄像头画面独立传输。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CF5252-EDF5-4BDE-846E-18E97D4F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557741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07050-A1F0-4218-967A-17613B58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7FEB8-4420-49F0-9C7C-3B370EEB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D003C-0D10-4281-85A0-2F815189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BB7A1-11D3-45CE-9F07-4708D70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6F418-5AD2-414F-8641-5096387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49D8D-8721-443C-ADB3-54C92C5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D2AE8-0019-49BF-A0A7-7ECDC3F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663A4-491C-4E30-AC26-BFDCEDC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382A7-FAE7-4913-B989-F9ACCE2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2B962-80F8-4BA8-862E-B9161A3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78112-5AA4-42B5-9EEF-B38FEDA4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554A8-997A-4FE1-A945-FE627441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06C8E-2102-438B-B7CE-C3D9409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D6E09-05ED-4232-9E1B-E3AA1706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C877C-1840-4713-8F8C-CAAFFED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19218-9063-40BC-9148-FF4664CF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13CD9-F229-49AB-B4BD-493EA2F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D0668-8119-444C-8814-20A97B76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F896D-000D-4261-8B38-DB7AE43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A3BE7-13FD-4470-BD2E-412FD8E6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07D2A-061F-42F2-8C78-86629DA7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8195D-AA63-4478-85E2-185F5570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0CDF5-8BC5-4B96-89D8-05A450C3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74A57-DEE2-430A-9D58-349AD1B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72821-523E-44B1-AA2A-FD2E66D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手势管线：从 21 点到可操作的物理意图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85BB8-398A-4A92-A2C3-8C77B938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E65C3-FD7B-49FF-A536-FD44C7C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3F4796-D6D9-414D-AB09-C25885F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CFE64-54A0-446C-86D2-A72DEF5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4E0DB-2776-4EA1-B611-D6DF750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21 点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Landmarks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7B2C4-458C-4E93-91E3-34B0E913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1FBA84-B929-457D-A9CA-4558C75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特征提取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Pinch / Palm / Fingers</a:t>
            </a:r>
          </a:p>
        </p:txBody>
      </p:sp>
      <p:cxnSp>
        <p:nvCxnSpPr>
          <p:cNvPr id="99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476500" y="27527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med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DA426F-76E5-4D41-A319-9DF31161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40E1B5-3BED-47F1-BFDE-1A9EE8C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稳定与死区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同源坐标</a:t>
            </a:r>
          </a:p>
        </p:txBody>
      </p:sp>
      <p:cxnSp>
        <p:nvCxnSpPr>
          <p:cNvPr id="102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667250" y="27527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med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D0A1CC-1EA5-4DB3-80EA-5A0E5A16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83B8A-D650-480A-BF8A-10522EF4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3840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意图映射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拖动 / 旋转 / 气流</a:t>
            </a:r>
          </a:p>
        </p:txBody>
      </p:sp>
      <p:cxnSp>
        <p:nvCxnSpPr>
          <p:cNvPr id="105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048500" y="2752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med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289F52-1DA4-4B9A-9118-D9F7C47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E58F19-C8D3-4F38-A0CB-9210315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3840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Unity 物理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Rigidbody / Trigger</a:t>
            </a:r>
          </a:p>
        </p:txBody>
      </p:sp>
      <p:cxnSp>
        <p:nvCxnSpPr>
          <p:cNvPr id="108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9382125" y="27527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med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B249A9-D8E7-4B88-80A5-EED6191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5143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D927B2-E8E3-4C75-B8E4-DB948BF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-9525" cy="-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C8A8EF-40A9-4C97-AC2A-F278053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8E8F6C-402A-41D1-B0FD-3BB475A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-85725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53D747-408C-41B5-9C99-47D77867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1ABEC-79CA-4D00-BE55-5F950396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66675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DA7760-AB2A-46FE-8575-3F59B3F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6D826F-B7F2-496B-A403-BFAB3CF8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200025" cy="-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3585C1-BE5E-42C6-93E0-F7CB579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D985AF-2F61-458C-81BF-1E2E6A88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-180975" cy="-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F1ABE9-96FF-415B-B3D5-FA184E8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ard">
            <a:extLst xmlns:a="http://schemas.openxmlformats.org/drawingml/2006/main">
              <a:ext uri="{FF2B5EF4-FFF2-40B4-BE49-F238E27FC236}">
                <a16:creationId xmlns:a16="http://schemas.microsoft.com/office/drawing/2014/main" id="{4ACD685D-EEA8-47D6-ADA7-6192247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23812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D45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89A2CC-D0BD-461F-9642-E881DBC3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4762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0">
            <a:solidFill>
              <a:srgbClr val="FFD4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7254B9-5DF5-4BF5-A6E5-CE8F1D55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判定不是“单帧距离”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05612B-2A05-4098-9F06-7B181745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进入阈值 / 保持阈值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短暂 grace 防断触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张掌与捏合互斥</a:t>
            </a:r>
          </a:p>
        </p:txBody>
      </p:sp>
      <p:sp>
        <p:nvSpPr>
          <p:cNvPr id="58" name="card">
            <a:extLst xmlns:a="http://schemas.openxmlformats.org/drawingml/2006/main">
              <a:ext uri="{FF2B5EF4-FFF2-40B4-BE49-F238E27FC236}">
                <a16:creationId xmlns:a16="http://schemas.microsoft.com/office/drawing/2014/main" id="{7724989C-09F5-4BA1-9843-4C852F5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812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79FFB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D5ACFF-51D9-41EF-8300-DF81D364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4762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FFB3"/>
          </a:solidFill>
          <a:ln xmlns:a="http://schemas.openxmlformats.org/drawingml/2006/main" w="0">
            <a:solidFill>
              <a:srgbClr val="79FFB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844458-1A80-4A00-B4CA-175724B6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稳定不是“全局变慢”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4AF9D7-798D-4B65-929D-EC5837A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小抖动死区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大动作快速跟随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交叉遮挡局部稳定</a:t>
            </a:r>
          </a:p>
        </p:txBody>
      </p:sp>
      <p:sp>
        <p:nvSpPr>
          <p:cNvPr id="62" name="card">
            <a:extLst xmlns:a="http://schemas.openxmlformats.org/drawingml/2006/main">
              <a:ext uri="{FF2B5EF4-FFF2-40B4-BE49-F238E27FC236}">
                <a16:creationId xmlns:a16="http://schemas.microsoft.com/office/drawing/2014/main" id="{2B2E0F55-4DFE-407D-A878-3C5D287B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23812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3FE2BC-8A32-458F-B8B9-1EA2272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4762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348970-236B-4F22-B192-56F02B73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手势转物理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268578-029C-4506-AB75-8772B5FD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863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捏合点拖动物体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双手连线旋转机关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手指方向产生风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6963FA-B9C4-4938-A5F9-53C5139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692161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48620-114A-4A34-A719-6FD6BAF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AFE2F-6D6C-45FB-B14D-34CD579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77CD1-1D31-4439-9316-7E36F36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3E83E-DDC8-48FD-A67A-C3DC80F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E1B5-B636-437F-9431-AA44B45B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2DF7-FBEB-452B-9C88-2647425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04C0A-3BC5-41B2-AE30-0DA499C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53E01-6AA6-4ED3-B65E-868F4F90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109EE-BE5F-4D1C-AD74-AB1156A7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D93A2-510D-40FE-81D9-D5DCF86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5BE63-A1C4-4AFE-BCC1-172F15D2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54BCF-83E8-40A8-BED4-8678852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8C823-A25D-4380-833E-8A7CA10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8496E-A8A2-4677-B2B6-039CEEBD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E2B72-943A-444A-B3CC-668D4D6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7796D-B408-45EB-ADD3-774603E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50B02-0FBB-49E6-8E8C-87103693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C09F4-FAF2-40CA-B205-D8392C2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C6616-F473-49A1-87A2-7B21348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47AD6-70DE-4FEB-9C39-68EF44E3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C48C0-D360-4A59-99DB-8F55254F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7912C-A3F9-417E-846E-FD38EEA9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361FA-EC01-4EB4-B4A1-F4CF48B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A1931-E5FD-4417-A80F-0FF77D78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080EF-6E87-4972-91D0-19A7329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创新点 1：显示与交互同源的稳定坐标体系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1EC9F7-D903-46BA-AEF8-798DBA1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86D6B-6591-4AF5-AA18-4D6CE933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063A8-CE02-4D73-8ACA-3C0EB99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F260B-4D9D-4CCF-A1C4-7679590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6B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6B5F"/>
                </a:solidFill>
                <a:latin typeface="Microsoft YaHei UI"/>
                <a:ea typeface="Microsoft YaHei UI"/>
                <a:cs typeface="Microsoft YaHei UI"/>
              </a:rPr>
              <a:t>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E2406-36FF-4E7B-9172-BF031A60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如果只把“显示骨架”做平滑，而实际命中点仍用原始识别坐标，玩家会看到手很稳，但物体仍然抖。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9B8AD-6882-45EB-A5E5-5406B5A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B19F0-74BC-4EDA-B02D-02A04630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0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显示骨架、UI 指针、捏合点、旋转点全部使用同一套稳定后的 landmarks。玩家看到哪里，实际就命中哪里。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EA88B-DE29-4352-A100-66F9A0D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52550"/>
            <a:ext cx="49530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CEB00-5D9D-40C9-8418-D7A49A76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同源坐标闭环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32CCA-0292-4F69-8BAD-47D9DFA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8001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62B177-7B5D-40E8-9CAB-443F73F1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显示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骨架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52CFD-245F-4A07-9EAE-DF5814E3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8001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4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592C64-B729-42EA-A31E-19F648CE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交互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C02AF4-2D71-41D2-8AE0-3F10EF1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8001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9FFB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A69EBD-0B46-4F02-AD0C-F8D9C6A9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物理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反馈</a:t>
            </a:r>
          </a:p>
        </p:txBody>
      </p:sp>
      <p:cxnSp>
        <p:nvCxnSpPr>
          <p:cNvPr id="85" name=""/>
          <p:cNvCxnSpPr>
            <a:stCxn xmlns:a="http://schemas.openxmlformats.org/drawingml/2006/main" id="35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6991350" y="27813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cxnSp>
        <p:nvCxnSpPr>
          <p:cNvPr id="86" name=""/>
          <p:cNvCxnSpPr>
            <a:stCxn xmlns:a="http://schemas.openxmlformats.org/drawingml/2006/main" id="37" idx="4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7448550" y="3181350"/>
            <a:ext cx="8572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cxnSp>
        <p:nvCxnSpPr>
          <p:cNvPr id="87" name=""/>
          <p:cNvCxnSpPr>
            <a:stCxn xmlns:a="http://schemas.openxmlformats.org/drawingml/2006/main" id="39" idx="2"/>
            <a:endCxn xmlns:a="http://schemas.openxmlformats.org/drawingml/2006/main" id="35" idx="4"/>
          </p:cNvCxnSpPr>
          <p:nvPr/>
        </p:nvCxnSpPr>
        <p:spPr>
          <a:xfrm xmlns:a="http://schemas.openxmlformats.org/drawingml/2006/main" flipH="1" flipV="1">
            <a:off x="6591300" y="3181350"/>
            <a:ext cx="4572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0F3F6-F7D0-4BAC-B31C-8431B736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讲法提示：这页重点强调“看见的骨架”和“真正操作的点”不是两套系统。</a:t>
            </a:r>
          </a:p>
        </p:txBody>
      </p:sp>
    </p:spTree>
    <p:extLst>
      <p:ext uri="{BB962C8B-B14F-4D97-AF65-F5344CB8AC3E}">
        <p14:creationId xmlns:p14="http://schemas.microsoft.com/office/powerpoint/2010/main" val="1807300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C9DD3-4C9D-47D7-972A-533FB8D1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355C7-55DB-4DA8-A0A7-C2C8E8FB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0073-1ED3-4601-82E7-C306E7EC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DC62F-3F32-421C-8645-14DFB343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E5C6B-D0A6-4D1F-B73E-FD5B6910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C760B-0CFD-44DE-991A-7126FFB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71EF2-382D-465F-B25C-D441E2BA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1B219-3A41-4865-851D-3255A97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C3D15-E4E3-454A-8DE7-CA21A826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90024-0CE8-4566-9687-474A416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30C05-88AE-4D7D-80FE-0D4B485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EA067-E5C4-4536-A01A-FC00BB0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4CFCD-8AC9-4ABF-805A-891D9F5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B6B89-F8E1-495A-B9BB-FC21AE1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EA1CB-10A2-49CA-8B2E-040AA4F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F27CB-02BD-46B9-872D-763131FE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B3547-35F5-4D30-96FE-1F2ED32D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3BB6C-619E-46FF-BAC2-6EF41D13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DAE0D-3DAA-4060-8B28-659B03A5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C125E-A176-43FA-8618-B7CDAD3C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1DD31-BC3B-4984-A256-39204D5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6AE72-33A0-4C3A-BEF4-2BB745A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01D34-AD92-4ED4-ACFF-ED04199E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842F6-42A4-421D-B5FB-A92C6B0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1AF9B-D8FF-41E3-B7BE-F806322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创新点 2：面向任务的稳定算法与迟滞判定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A30B2-CBE8-481C-ADCC-F3C4AA8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6D512-A1C5-4505-A78E-2268BBA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F80C5-1FBC-468D-A038-16F1584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142B2-B637-4CDC-956D-A9AADA24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10287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5240">
            <a:solidFill>
              <a:srgbClr val="42F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994E1-69FC-4FDF-821D-6F9005A0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静止高频抖动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423F4A-183A-4F2D-81B1-5EB957E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Deadband 保持上一稳定位置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BB394D-B22E-4A51-9FC6-29F266AC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减少骨架和物体微抖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A09A30-9CE2-4A79-AC8B-8B632EE5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0287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5240">
            <a:solidFill>
              <a:srgbClr val="FFD4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F7B24-707F-4582-A472-1B8D7BD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捏合临界闪烁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FA2E8A-F6BD-48AC-92F3-9A06DF4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进入阈值 + 保持阈值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452733-7754-4567-A628-1407C44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连续拖拽和旋转不易断触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706F8-E82C-4886-84F4-95C0015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0287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5240">
            <a:solidFill>
              <a:srgbClr val="79FFB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024A31-6192-4FFD-8AD9-1302CECC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双手旋转丢帧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FB1D1B-E7D2-4D3D-80C6-B1A7A93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Grace 时间窗口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97D0CD-8650-4D03-ADC4-6CEC99D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单帧识别失败不打断机关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72A2F6-79FD-45FA-994A-8C3EF48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5240">
            <a:solidFill>
              <a:srgbClr val="FF6B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45C2A-7D0A-4A1F-BA6C-A5E5652A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6B5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FF6B5F"/>
                </a:solidFill>
                <a:latin typeface="Microsoft YaHei UI"/>
                <a:ea typeface="Microsoft YaHei UI"/>
                <a:cs typeface="Microsoft YaHei UI"/>
              </a:rPr>
              <a:t>食指交叉遮挡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F05CF9-E3F4-4A36-977D-EECF610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33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局部稳定后方食指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C7C70-1612-47D7-9929-84B601FE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降低消除误触和指尖抽动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FD93CA-2DCA-4F87-927B-E45B773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不是简单把滤波调大，而是按实际交互故障点分别处理：稳定、响应、不断触三者平衡。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163C37-F8E8-437B-8EBD-B3F26AC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661673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10921-09BC-4CBC-A4BD-7F92AD4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4CBBC-0135-48BF-8774-3CCACEE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F8165-5038-44EA-9A21-52BD09F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9F4E1-5690-4278-8B01-CB27A72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55F40-B08F-4E7A-BBE3-9367C812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E1344-FA02-4E87-9AE9-33CE316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AE51-B382-4F77-853C-F1175AB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F81BA-3216-4D06-8FB3-1D11B2F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DE48C-8870-4F1D-908F-9477BFC1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4072D-8D1E-4E1B-B52D-807207D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BC824-1988-44A1-A786-C2616999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79780-E9D9-4E6F-9575-3BE06BA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90DC8-49F3-4980-A9C0-12EF83F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65C7D-DE46-43CC-870E-C631DD0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8438B-1D87-4FE7-A4BD-A8041186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D2E44-EFDA-4373-8774-768AA1A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8122A-43EC-4433-9502-4B4C44F2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A1A2D-5177-46A4-92E0-B17AE2A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80431-945A-47A6-ABBB-24ADE73B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89F39-2C81-48D9-9E7D-140CCB3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60433-DF76-4890-A7C0-8E548BF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4D7F1-499A-4550-AA13-90DD8A1A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484DD-898C-4065-B07D-BAC5E3D8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56CDE-A22B-4F11-86BA-C98CD36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124B4-C391-4EC5-A0CD-5062B45C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创新点 3：关卡阶段状态机与反馈闭环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4296C-967E-4227-98AE-FCEADAF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81EB8-0C0B-49D8-8702-14ED3C30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C18CB-5994-4228-B1E8-3C9BFE6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32B29-C3EF-4C23-9B0C-D003F94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F3C3C-8E0F-4076-B5FD-D099FC8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85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目标提示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11EDB8-3667-400B-B626-35C3D3D8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9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HUD 告诉玩家当前任务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FB960-4A01-4D7A-81A9-46037E23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145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50AF2C-315B-4476-87CE-725D99F5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85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可操作机关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1F41B-FE1C-41DD-97BA-4168C454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09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只开放当前阶段对象</a:t>
            </a:r>
          </a:p>
        </p:txBody>
      </p:sp>
      <p:cxnSp>
        <p:nvCxnSpPr>
          <p:cNvPr id="95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695575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AEF42B-38EE-4027-B8CA-212CC237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7145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5DFEEC-01B0-447F-9B66-A437D59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85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成功反馈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CFA344-3292-4D5D-80B0-76CE944A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09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高亮 / SUCCESS / 开门</a:t>
            </a:r>
          </a:p>
        </p:txBody>
      </p:sp>
      <p:cxnSp>
        <p:nvCxnSpPr>
          <p:cNvPr id="99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676775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39EFD-2D3A-4156-B002-0AC4DAC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7145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81669A-661D-4628-8273-0587FF4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85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放行小球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23914-448E-4272-B3DD-6E025AA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09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进入下一段物理路径</a:t>
            </a:r>
          </a:p>
        </p:txBody>
      </p:sp>
      <p:cxnSp>
        <p:nvCxnSpPr>
          <p:cNvPr id="103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657975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440E2C-53D5-44E4-8DCB-4A28003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14500"/>
            <a:ext cx="16954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6B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DF29A-B490-4862-9EA9-2666E656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85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失败重置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1A5CB7-0BEC-4388-B18E-15549BD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球、机关、VFX 全回初始</a:t>
            </a:r>
          </a:p>
        </p:txBody>
      </p:sp>
      <p:cxnSp>
        <p:nvCxnSpPr>
          <p:cNvPr id="107" name="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8639175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992"/>
            </a:solidFill>
            <a:prstDash val="solid"/>
            <a:headEnd type="arrow" w="sm" len="sm"/>
          </a:ln>
        </p:spPr>
      </p:cxnSp>
      <p:sp>
        <p:nvSpPr>
          <p:cNvPr id="48" name="card">
            <a:extLst xmlns:a="http://schemas.openxmlformats.org/drawingml/2006/main">
              <a:ext uri="{FF2B5EF4-FFF2-40B4-BE49-F238E27FC236}">
                <a16:creationId xmlns:a16="http://schemas.microsoft.com/office/drawing/2014/main" id="{8CD459C7-E5F1-47A6-A5F8-E7E2A89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3048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E018AA-7808-4CA0-8549-D880489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BB37F6-DDFE-4378-BBBD-04CC0E95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玩家体验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339032-EBDA-4ACD-ACB5-BACF7C6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不会猜下一步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不会提前误操作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失败后状态一致</a:t>
            </a:r>
          </a:p>
        </p:txBody>
      </p:sp>
      <p:sp>
        <p:nvSpPr>
          <p:cNvPr id="52" name="card">
            <a:extLst xmlns:a="http://schemas.openxmlformats.org/drawingml/2006/main">
              <a:ext uri="{FF2B5EF4-FFF2-40B4-BE49-F238E27FC236}">
                <a16:creationId xmlns:a16="http://schemas.microsoft.com/office/drawing/2014/main" id="{2492A5B2-E87C-4D36-8CF3-EC18374F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048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D45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092553-1126-4DB8-835B-CAA247F3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0">
            <a:solidFill>
              <a:srgbClr val="FFD4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A0C74A-D317-48F4-8F6A-3069350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工程收益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DFFEE1-2300-426B-B8B3-9DE1C6C0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9550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每关独立阶段变量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完成机关锁定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重启/切关更可靠</a:t>
            </a:r>
          </a:p>
        </p:txBody>
      </p:sp>
      <p:sp>
        <p:nvSpPr>
          <p:cNvPr id="56" name="card">
            <a:extLst xmlns:a="http://schemas.openxmlformats.org/drawingml/2006/main">
              <a:ext uri="{FF2B5EF4-FFF2-40B4-BE49-F238E27FC236}">
                <a16:creationId xmlns:a16="http://schemas.microsoft.com/office/drawing/2014/main" id="{95411B37-80BD-4D2D-9094-F046AAAB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048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79FFB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0847EF-1D0C-4964-9EB8-E452D290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FFB3"/>
          </a:solidFill>
          <a:ln xmlns:a="http://schemas.openxmlformats.org/drawingml/2006/main" w="0">
            <a:solidFill>
              <a:srgbClr val="79FFB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F6D89C-360D-4334-84AA-535DD741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答辩亮点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3D1AC3-3D94-4293-A8AA-B1AD64F1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9550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不是单个 demo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是可扩展关卡框架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手势与物理节奏结合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7E42FB-819B-4E46-9452-433263C9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1111806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DE650-D966-4160-8E69-16E28A0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B43EB-0CDC-4DB2-8045-F6C08901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CA0B0-75C0-4C56-A001-73AEC12B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C8C8-0853-4ED7-AB27-EBDBEAD7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5257-BF2B-4DCA-BC33-2BD110A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03DC3-9CBB-479C-B6C1-D3BC8406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BDC10-629E-4F7E-885B-78C1B58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1D75-3913-41C5-9D0C-3C5E3AEB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232FB-8B6B-4554-A125-F373925E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601F7-FA1C-4F6B-857C-63214D6A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DCCBF-14D7-4A3A-96C6-8585DEDF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BD77B-7888-4517-9075-ABAB282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EE7DC-DDF7-491F-9486-E796761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D4C28-3623-4FC3-8433-E9CA15B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E4E53-A625-4D56-9220-568CD0CC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CE277-824A-4E58-AD4A-CE72E79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D88FC-96FD-4F29-AE3E-FA27571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AAEC8-F58E-4EDD-8979-BD15AB3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3B023-3A36-4D50-95A3-B0373FB6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7E77-7818-4212-B620-FF11B11A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4FE84-6AA6-4ADA-A883-6AD9BC0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CCAC1-8D02-4066-AD99-EFC2F47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AEE9F-816B-4ADE-9F80-225F2E5F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C7AC2-F899-4E17-A2E0-B33C2F43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5D8D3-3520-4AE6-9887-5291B92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创新点 4：手势驱动的创造、消除与自然物理映射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FCACC-025D-4B31-9E14-BC81D2D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700AF-1286-40FF-B873-8E904E28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0C5E0-B9BF-48A4-88B4-54CC93B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1601F-A075-4FE5-9AF5-6462DCC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4953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4C4C2-2054-4E82-A690-C85A9371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Level 3：创造与消除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AACBF-4CB1-4B8E-B330-869D564B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523875" cy="-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FC5E9-A79F-4891-8FB4-64F19FA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571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169D4-3A01-4C14-8892-3331FAD9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14625"/>
            <a:ext cx="-1095375" cy="-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3D17C-9E6F-45CC-9F49-F75D3FF9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食指轨迹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9D80E4-8054-4572-B736-1DE79094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99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E0D919-BAD3-4F90-846B-63187BD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8191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320434-3EB1-4D15-9575-1BAA5092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8191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19050">
            <a:solidFill>
              <a:srgbClr val="E8A33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A0B06-65A2-418E-B199-20B3659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3D 物体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D8D8D7-8F34-4CAC-ABDF-80BCC119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轨迹闭合与角点分析识别形状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生成球、立方体、三棱锥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生成物继续参与拖动、旋转和物理机关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深交叉食指删除指定目标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73DD92-1648-491F-A257-3D2E18F7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85900"/>
            <a:ext cx="4953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9CAD61-1D33-4CCE-91CB-511C35AC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自然物理映射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9B702-5452-4D66-BB96-CDE141B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单手捏合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8A487D-E0DC-4479-BB0A-1F53FB0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抓住并拖动物体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109318-963A-4977-97E7-D3336F13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841614-9E6C-4EAF-9D6B-16D98E3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双手捏合旋转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2074D1-6D12-496E-BDFF-76A5580B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两手连线角度 = 物体角度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5C11D-8F39-41FA-B194-66AD422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622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5C4C53-39B3-4E17-9991-8F5C802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双手拉合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F866BB-090F-47A4-A952-1D6496A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两手距离缩短 = 桥板合拢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BA95C0-105B-4BB7-A4C3-C53479F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6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0186CA-B3F3-43CB-83DA-4534BFC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气流指向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ACFA4E-D427-49CF-B084-06E20ACD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手指方向 = 风力加速度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916A05-AEE4-4C03-B8CA-E948CDAB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8E2445-1F7D-4249-A3F8-76CF3B7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拇指磁极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8FA820-212E-4A02-8D2D-DF121CEF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拇指方向 = 磁极切换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346ADE-A05C-45AD-8772-89C386F3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053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A41AA5-738B-4249-BD5B-700BFBE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1844716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028B2-2C4C-4BBD-A42B-ADAA438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B6EA9-3502-49FA-BBA9-BCC7DC81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C47E6-1F5F-47F8-A5FD-0FBD1F1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0F0C1-DD65-4111-93A5-0A906D59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69378-3B45-4B03-A444-4B7010F7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2B4C-F790-414F-A09B-F3E8CB3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E052-3AE6-439D-B1B0-4F02B3FD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AA282-F53E-46DC-B01E-749AB05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83FAC-8E48-450D-BBA5-FE81579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D5E42-BBDD-41BD-9D72-4D537939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20EC3-9357-42E9-B1A1-B9400C3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15870-BD6E-417C-A336-37164326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A7676-BAA2-42D6-820C-4371E99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15F5D-F7B0-4503-BE7B-7D4379A0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5DE0F-4197-4D19-A799-FAE23B7C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946D3-38F6-4106-8C1F-6887C85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61C5C-17A7-4107-B9CD-873C5A6B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E4F79-0609-4774-B3A5-E2AE8CFB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39A6F-7464-45EC-9DE6-3407E76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FE837-FE7D-4A3D-8FBB-857939B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E1EE1-DC9E-4A30-8657-D07D8E1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20478-2699-4CC4-8BA5-9A4BD81B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2F26F-9EC1-4C30-94BF-90C3980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FA206-8481-424B-92F8-241B887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1A7C5-AF77-4DD0-8280-78E334FB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关卡设计：每关只引入少量新机制，但组合成完整流程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98DAE-81B4-4952-BD9D-1755975B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AE4A9-DE2F-4903-A423-9A2EB4AB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95880-542C-41D9-91D8-80E6B860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876C6-193C-49B6-891A-EBE17277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3000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79FF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1B50E-BB25-4D58-BD6F-3D6FE46C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9FFB3"/>
                </a:solidFill>
                <a:latin typeface="Microsoft YaHei UI"/>
                <a:ea typeface="Microsoft YaHei UI"/>
                <a:cs typeface="Microsoft YaHei UI"/>
              </a:rPr>
              <a:t>Level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F5CFD-29B0-495A-9352-FCF90EE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Gesture Tutorial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16AB6-DD9B-4ADE-A57C-0C3B0A0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所有手势逐项练习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成功后手动 Continue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2EED9-0E22-4F8D-9CDE-482B33C4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000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59948E-B473-4BA2-8850-3B238583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Level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165C0-BE88-4CC5-B798-F585C962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Moving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D97CF-E92D-4B56-913F-59B1E6CD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清障、断桥、空中桥、神印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84895-70FA-471D-A5FB-90DC0B6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D4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13EC1-D896-492F-9AC2-F431E396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38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19050">
            <a:solidFill>
              <a:srgbClr val="E8A3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8EA33B-CE57-4747-85D3-7EB88405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69" y="2717006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1A97DE-0EEC-47A3-BFC7-12E785C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000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BA7D6B-42FD-498C-A4E1-11783501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Level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BE8ABB-A0E6-43CE-9311-5F266B9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Portals &amp; Airflow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9DEFD6-69C5-4C4E-985F-897BD75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钥匙、传送、渐进气流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4CCF94-C649-4102-BA75-9F2CB39C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609600" cy="609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32290D-1BCE-47F2-9ACE-78B5E4B3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360" y="2556510"/>
            <a:ext cx="335280" cy="335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B05ED5-CFBA-4D35-89AC-06D3B9A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000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490F58-F0E5-4198-8901-0AD4237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Level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C91C27-859A-44DD-BF3A-3581AD75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Creation &amp; Erasure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32433B-94FD-4E54-A432-9582FCA1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绘制生成、摆放、消除锁块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3EE4B2-FB0E-4D53-BF98-8AE1A91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3000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1F9BC9-0B51-462F-819A-C322DE46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Level 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87DC51-14CD-4E96-A296-E30D28EF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Mirror &amp; Magnet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ED7BD0-E7CA-449B-A372-A7AC43C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镜面光路、磁极切换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B3CA16-55BC-4F2C-AD59-A3A1BCA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48250"/>
            <a:ext cx="1009650" cy="-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F8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1D90E8-9246-4283-9F0E-2968FC9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设计策略：把复杂手势拆成可教学的小动作，再在正式关卡中通过机关目标组合起来。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71EF29-A586-4E71-9A05-CE1E93DC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321106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3F146-C1A4-4094-A6FC-DF3E950A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B6A5B-8684-4179-A0A8-91AE613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8D19D-5F8B-4D0E-8392-64B5E0B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D473-1F57-4E4E-BC38-851E5F14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363BA-56B9-41E4-8023-784321E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9EAEC-F26A-449F-95AB-6AEB6B5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E1149-791E-49A9-BCF4-D3618B8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219CE-EFCC-4523-BB51-44AC30A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3C97A-A2AD-484C-9CEE-5285B29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E5FD4-97B3-4694-8AD9-3451608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E98B7-ED10-4C7E-B21B-C692411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9A1C-FE71-403E-82D8-63EC7E4B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3B0E5-6124-4923-B66A-D105F5E1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E8214-DD50-47FA-9413-67336D21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40EEB-889D-4DCC-88C4-8948C212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905500"/>
            <a:ext cx="-4762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5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5A75E-77BA-4549-A5F0-82CB9DB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27A7F-8A5D-4CCF-A400-32719A2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BB339-5CE3-4E65-96D9-3306F43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4B91A-4448-4333-B10D-1FDE034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10D68-11AA-4D2B-B37A-6245A4CD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00BB1-6945-4F9C-95E0-3D4C55E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72608-AC74-4A7D-9793-0D10BD3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3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6B916-382F-46DE-88E5-D2155EC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7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278DC-BA15-414F-AE14-512F014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HAND OF GOD · Gesture Physics Puzzle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00082-48AE-4E0A-BDE5-4B4DCC2E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优点与不足：当前版本的价值与边界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B04AD-380E-47D7-A496-96CCA594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72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D1FC8-C337-43F4-9AB4-101080C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F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ED2FA-D5C4-455F-9BA9-14B24D7A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49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D45A"/>
            </a:solidFill>
            <a:prstDash val="solid"/>
          </a:ln>
        </p:spPr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BAD2F53A-09B5-41D2-BAC6-C4845C6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7625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79FF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A08AF-1246-428D-BC46-BA022F8F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7625" cy="3733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FFB3"/>
          </a:solidFill>
          <a:ln xmlns:a="http://schemas.openxmlformats.org/drawingml/2006/main" w="0">
            <a:solidFill>
              <a:srgbClr val="79FFB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94894-5120-4BF5-985B-701E7DDE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优点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FAD5D-D20E-4A64-BFAC-18F99A9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3243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完整闭环：摄像头、识别、稳定、通信、物理反馈都打通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手势体系丰富：拖动、旋转、拉合、绘制、消除、指向、磁极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教学充分：每个正式手势都有 Level 0 或 HUD 提示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反馈明确：骨架、高亮、SUCCESS/PASS、风效、光束、磁极颜色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演示友好：自动启动桥接、单实例锁、Restart、Level Select</a:t>
            </a:r>
          </a:p>
        </p:txBody>
      </p:sp>
      <p:sp>
        <p:nvSpPr>
          <p:cNvPr id="33" name="card">
            <a:extLst xmlns:a="http://schemas.openxmlformats.org/drawingml/2006/main">
              <a:ext uri="{FF2B5EF4-FFF2-40B4-BE49-F238E27FC236}">
                <a16:creationId xmlns:a16="http://schemas.microsoft.com/office/drawing/2014/main" id="{DDDA8DA7-9953-41E4-A67D-44B17E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62500" cy="3733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6B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1AD85-0F67-4090-BA14-8564A29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625" cy="3733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FF6B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42139C-85DC-4D52-9309-C8B9C5F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71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不足与改进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391B12-F8DA-4052-B767-3330038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3243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识别仍受光照、遮挡、背景和摄像头角度影响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纯手势 UI 悬停慢于鼠标，适合沉浸但不适合高频菜单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美术仍以程序化几何和 CC0 素材为主，可进一步统一资产管线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当前主要面向 Windows 单玩家双手体验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后续可加入设置界面、更多 prefab、录制/演示模式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6029AC-51F0-4F98-B235-4A76C3F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F8992"/>
                </a:solidFill>
                <a:latin typeface="Microsoft YaHei UI"/>
                <a:ea typeface="Microsoft YaHei UI"/>
                <a:cs typeface="Microsoft YaHei UI"/>
              </a:rPr>
              <a:t>核心识别由 MediaPipe/OpenCV 提供；交互映射、稳定策略、状态机和关卡逻辑为项目自主实现。</a:t>
            </a:r>
          </a:p>
        </p:txBody>
      </p:sp>
    </p:spTree>
    <p:extLst>
      <p:ext uri="{BB962C8B-B14F-4D97-AF65-F5344CB8AC3E}">
        <p14:creationId xmlns:p14="http://schemas.microsoft.com/office/powerpoint/2010/main" val="1884150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6C5A0-3187-44FE-A803-5CB1759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F494-3187-407C-9AF2-C21FD91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590800" cy="2590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42F8F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5214F-74F6-40CB-BB84-66138E5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780" y="2621280"/>
            <a:ext cx="1424940" cy="14249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2B315-579D-4A98-B032-6095EDB3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5A"/>
          </a:solidFill>
          <a:ln xmlns:a="http://schemas.openxmlformats.org/drawingml/2006/main" w="19050">
            <a:solidFill>
              <a:srgbClr val="E8A3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A4898-BCBC-490B-B1E7-069374A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093720"/>
            <a:ext cx="224028" cy="224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47885-0159-4769-98BC-85DADE54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7810500" cy="-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D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BFF5E-80D1-40A6-A542-21316688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951548" cy="10220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EEB36-F4F6-4737-8CEC-0D6D008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24" y="3400425"/>
            <a:ext cx="-17621" cy="-2819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E91C7-FAEA-4430-9A8A-5C5A82F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603" y="3080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61E1B-BA3C-4E89-98D9-B4AF17DB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24" y="3400425"/>
            <a:ext cx="-158591" cy="-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7A99B-0B3D-4E67-BD09-B790CCB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3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97777-F6D4-43C5-868E-E90B6C85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24" y="3400425"/>
            <a:ext cx="123349" cy="-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752C-2E1A-4E95-83BE-A473F36B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573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9ED7E-8BE5-4CC1-B025-7EC910C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24" y="3400425"/>
            <a:ext cx="370046" cy="-845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22989-A2E6-49F9-8A84-DF2C536F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70" y="25165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148A4-E2B8-4CD5-9F13-30001D5D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24" y="3400425"/>
            <a:ext cx="-334804" cy="-740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5E06B-BC82-40E9-91B5-C736150A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26222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4349C-F908-4353-B6B0-E7FDC646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总结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8B3CF-4210-43FF-9AD4-502015B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42F8F2"/>
                </a:solidFill>
                <a:latin typeface="Microsoft YaHei UI"/>
                <a:ea typeface="Microsoft YaHei UI"/>
                <a:cs typeface="Microsoft YaHei UI"/>
              </a:rPr>
              <a:t>Hand of God 的核心不是“用了手势识别库”，而是把识别结果做成稳定、可学习、可连续操控的物理解谜系统。</a:t>
            </a:r>
          </a:p>
        </p:txBody>
      </p:sp>
      <p:sp>
        <p:nvSpPr>
          <p:cNvPr id="20" name="card">
            <a:extLst xmlns:a="http://schemas.openxmlformats.org/drawingml/2006/main">
              <a:ext uri="{FF2B5EF4-FFF2-40B4-BE49-F238E27FC236}">
                <a16:creationId xmlns:a16="http://schemas.microsoft.com/office/drawing/2014/main" id="{DD52D4E5-F168-4BD7-AD0C-29054D7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2860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42F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79565-6A7D-49FC-8E1B-6E4948E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762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8F2"/>
          </a:solidFill>
          <a:ln xmlns:a="http://schemas.openxmlformats.org/drawingml/2006/main" w="0">
            <a:solidFill>
              <a:srgbClr val="42F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33543-6F5D-40A7-94C9-D7D025A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可讲重点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5C552-2648-43DB-9C08-D68C34C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双进程桥接与摄像头生命周期管理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8297FFE0-32E9-41CC-B5CA-2AD1687A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2860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FFD4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F85CA-0E8D-4AB6-BB39-C4D3B0FD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4762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5A"/>
          </a:solidFill>
          <a:ln xmlns:a="http://schemas.openxmlformats.org/drawingml/2006/main" w="0">
            <a:solidFill>
              <a:srgbClr val="FFD4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89BAA-73D0-4882-8FA2-30146820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623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可讲重点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51EE3-3736-41CA-817B-5A47E09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同源稳定坐标、死区和迟滞判定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5D02A173-6867-422C-8C9A-6C8BA18C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2860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2229"/>
          </a:solidFill>
          <a:ln xmlns:a="http://schemas.openxmlformats.org/drawingml/2006/main" w="13335">
            <a:solidFill>
              <a:srgbClr val="79FF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0473F-78C2-4DB6-A599-586B36E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47625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FFB3"/>
          </a:solidFill>
          <a:ln xmlns:a="http://schemas.openxmlformats.org/drawingml/2006/main" w="0">
            <a:solidFill>
              <a:srgbClr val="79FF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DC722-3637-47A0-BAB4-7BE0B9BD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4FBFF"/>
                </a:solidFill>
                <a:latin typeface="Microsoft YaHei UI"/>
                <a:ea typeface="Microsoft YaHei UI"/>
                <a:cs typeface="Microsoft YaHei UI"/>
              </a:rPr>
              <a:t>可讲重点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9B7FB0-4790-4A44-93C7-B0324DF0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状态机驱动的多关卡物理机关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15F10-2F28-4167-86F1-AF55C0F6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CBD2"/>
                </a:solidFill>
                <a:latin typeface="Microsoft YaHei UI"/>
                <a:ea typeface="Microsoft YaHei UI"/>
                <a:cs typeface="Microsoft YaHei UI"/>
              </a:rPr>
              <a:t>建议演示路线：校准 → Level 0 关键手势 → Level 1 空中桥 → Level 2 气流 → Level 3 绘制/消除 → Level 4 镜面/磁力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921A8E-E509-452C-8949-61BB5E2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FFD45A"/>
                </a:solidFill>
                <a:latin typeface="Microsoft YaHei UI"/>
                <a:ea typeface="Microsoft YaHei UI"/>
                <a:cs typeface="Microsoft YaHei U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7942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2026-06-16T13:55:37.6160000Z</dcterms:created>
  <dcterms:modified xsi:type="dcterms:W3CDTF">2026-06-16T13:55:37.6160000Z</dcterms:modified>
</coreProperties>
</file>